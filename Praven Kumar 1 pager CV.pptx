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73262"/>
    <a:srgbClr val="FF55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ED95C-6D01-3A02-3046-4599D87ABD20}" v="22" dt="2023-01-05T15:34:47.896"/>
    <p1510:client id="{4391B17E-DEC4-4F2A-BBBD-BA3C18A35A15}" v="2" dt="2023-01-06T11:22:56.152"/>
    <p1510:client id="{B54C06F4-7C9C-ABE5-F090-4927A302D0B1}" v="2748" dt="2023-01-05T15:30:07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, Mayank" userId="3d6a3e74-a12e-4c0e-8802-d9bbc30ef176" providerId="ADAL" clId="{4391B17E-DEC4-4F2A-BBBD-BA3C18A35A15}"/>
    <pc:docChg chg="undo custSel modSld">
      <pc:chgData name="Manu, Mayank" userId="3d6a3e74-a12e-4c0e-8802-d9bbc30ef176" providerId="ADAL" clId="{4391B17E-DEC4-4F2A-BBBD-BA3C18A35A15}" dt="2023-01-06T11:29:30.991" v="257" actId="20577"/>
      <pc:docMkLst>
        <pc:docMk/>
      </pc:docMkLst>
      <pc:sldChg chg="delSp modSp mod">
        <pc:chgData name="Manu, Mayank" userId="3d6a3e74-a12e-4c0e-8802-d9bbc30ef176" providerId="ADAL" clId="{4391B17E-DEC4-4F2A-BBBD-BA3C18A35A15}" dt="2023-01-06T11:29:30.991" v="257" actId="20577"/>
        <pc:sldMkLst>
          <pc:docMk/>
          <pc:sldMk cId="3928198229" sldId="256"/>
        </pc:sldMkLst>
        <pc:spChg chg="del">
          <ac:chgData name="Manu, Mayank" userId="3d6a3e74-a12e-4c0e-8802-d9bbc30ef176" providerId="ADAL" clId="{4391B17E-DEC4-4F2A-BBBD-BA3C18A35A15}" dt="2023-01-06T11:22:56.152" v="3" actId="478"/>
          <ac:spMkLst>
            <pc:docMk/>
            <pc:sldMk cId="3928198229" sldId="256"/>
            <ac:spMk id="10" creationId="{C1C15090-6668-7672-4B7A-7273EB858D51}"/>
          </ac:spMkLst>
        </pc:spChg>
        <pc:spChg chg="mod">
          <ac:chgData name="Manu, Mayank" userId="3d6a3e74-a12e-4c0e-8802-d9bbc30ef176" providerId="ADAL" clId="{4391B17E-DEC4-4F2A-BBBD-BA3C18A35A15}" dt="2023-01-06T11:22:34.930" v="0" actId="6549"/>
          <ac:spMkLst>
            <pc:docMk/>
            <pc:sldMk cId="3928198229" sldId="256"/>
            <ac:spMk id="39" creationId="{0165155C-8724-5AF6-46A7-B338BBB5D9D2}"/>
          </ac:spMkLst>
        </pc:spChg>
        <pc:spChg chg="mod">
          <ac:chgData name="Manu, Mayank" userId="3d6a3e74-a12e-4c0e-8802-d9bbc30ef176" providerId="ADAL" clId="{4391B17E-DEC4-4F2A-BBBD-BA3C18A35A15}" dt="2023-01-06T11:29:30.991" v="257" actId="20577"/>
          <ac:spMkLst>
            <pc:docMk/>
            <pc:sldMk cId="3928198229" sldId="256"/>
            <ac:spMk id="52" creationId="{A40EAB63-DB98-24E4-8DC0-1DA450BE7063}"/>
          </ac:spMkLst>
        </pc:spChg>
        <pc:spChg chg="del">
          <ac:chgData name="Manu, Mayank" userId="3d6a3e74-a12e-4c0e-8802-d9bbc30ef176" providerId="ADAL" clId="{4391B17E-DEC4-4F2A-BBBD-BA3C18A35A15}" dt="2023-01-06T11:22:56.152" v="3" actId="478"/>
          <ac:spMkLst>
            <pc:docMk/>
            <pc:sldMk cId="3928198229" sldId="256"/>
            <ac:spMk id="67" creationId="{8801A9C5-7B43-AA9A-4479-7DC9A2D1EC5C}"/>
          </ac:spMkLst>
        </pc:spChg>
        <pc:spChg chg="del">
          <ac:chgData name="Manu, Mayank" userId="3d6a3e74-a12e-4c0e-8802-d9bbc30ef176" providerId="ADAL" clId="{4391B17E-DEC4-4F2A-BBBD-BA3C18A35A15}" dt="2023-01-06T11:22:56.152" v="3" actId="478"/>
          <ac:spMkLst>
            <pc:docMk/>
            <pc:sldMk cId="3928198229" sldId="256"/>
            <ac:spMk id="69" creationId="{5719706E-EEFA-9AB9-0C39-CEAF400A1524}"/>
          </ac:spMkLst>
        </pc:spChg>
        <pc:spChg chg="del">
          <ac:chgData name="Manu, Mayank" userId="3d6a3e74-a12e-4c0e-8802-d9bbc30ef176" providerId="ADAL" clId="{4391B17E-DEC4-4F2A-BBBD-BA3C18A35A15}" dt="2023-01-06T11:22:42.013" v="1" actId="478"/>
          <ac:spMkLst>
            <pc:docMk/>
            <pc:sldMk cId="3928198229" sldId="256"/>
            <ac:spMk id="73" creationId="{44073B58-9014-9E5A-6FE5-036BC273D18B}"/>
          </ac:spMkLst>
        </pc:spChg>
        <pc:spChg chg="del">
          <ac:chgData name="Manu, Mayank" userId="3d6a3e74-a12e-4c0e-8802-d9bbc30ef176" providerId="ADAL" clId="{4391B17E-DEC4-4F2A-BBBD-BA3C18A35A15}" dt="2023-01-06T11:22:42.013" v="1" actId="478"/>
          <ac:spMkLst>
            <pc:docMk/>
            <pc:sldMk cId="3928198229" sldId="256"/>
            <ac:spMk id="76" creationId="{B4BB258D-F5F7-AFEC-1068-DF9D10CE3B88}"/>
          </ac:spMkLst>
        </pc:spChg>
        <pc:cxnChg chg="del">
          <ac:chgData name="Manu, Mayank" userId="3d6a3e74-a12e-4c0e-8802-d9bbc30ef176" providerId="ADAL" clId="{4391B17E-DEC4-4F2A-BBBD-BA3C18A35A15}" dt="2023-01-06T11:22:42.013" v="1" actId="478"/>
          <ac:cxnSpMkLst>
            <pc:docMk/>
            <pc:sldMk cId="3928198229" sldId="256"/>
            <ac:cxnSpMk id="74" creationId="{660E52D2-5835-0C1A-98D7-8B993293D5AD}"/>
          </ac:cxnSpMkLst>
        </pc:cxnChg>
        <pc:cxnChg chg="del">
          <ac:chgData name="Manu, Mayank" userId="3d6a3e74-a12e-4c0e-8802-d9bbc30ef176" providerId="ADAL" clId="{4391B17E-DEC4-4F2A-BBBD-BA3C18A35A15}" dt="2023-01-06T11:22:42.013" v="1" actId="478"/>
          <ac:cxnSpMkLst>
            <pc:docMk/>
            <pc:sldMk cId="3928198229" sldId="256"/>
            <ac:cxnSpMk id="75" creationId="{34A02851-46C5-9500-E624-F084442109F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69B9-78CE-5384-2C16-5C2E5DA6D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DDD54-5B82-18AB-7332-0706EDFC9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60540-3A20-ECF5-8582-47E57A59D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EB168-E730-CDC7-19B6-7E093D9F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98E7B-B56F-F994-6B70-182D661FC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040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483D-905A-B8EC-A196-787DE898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C82D8-CC1F-ED3C-032F-1CA6E6636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6092D-330C-878A-3225-C5867C86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62AFD-318F-AF57-1195-7A61F5CBF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FA099-733B-5735-13C7-0C41E43F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32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BE47A-4C10-3472-DCE2-D3953C632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D4021-10E3-B09D-A944-D2D399536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23438-26CF-242E-76B2-B05BAC818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8405-9462-1ACB-3FAE-F7F4CAD2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C64DC-2B79-ED1B-C5E8-B41A5A3D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832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6201-7062-490C-2451-558B46DC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462C2-575A-16C7-082F-ED1CA77D0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E80BC-B357-CAEA-6653-D8F8710B6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5691C-28EC-9A8B-568D-7CB7AAD1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A4766-966E-A753-0010-3A393627F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9C7BF-33C5-4D73-CE0E-06687C78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08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B808-0EBF-D87F-1107-23AF5248A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4998B-0537-3659-C0D3-16C0DAF87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74C27-6230-FFD5-3460-9E11CB2C5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345BE-FCFC-062F-9D0E-0CE43EA63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16DE4-256B-BFDD-92A7-CD7768578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33A491-3150-AD3A-EC77-FA5724FEB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9DFBA-2AF8-1FAF-BDD2-EF075D31E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B162C-3735-1B31-BD43-C9CC9ECF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039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89CC8-9069-1476-B560-759C1D53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1D439-6082-35CA-67BA-63C5396B4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E4C-F9B1-2A87-B0E8-DA81132C5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A14F3-B80A-712A-FEC4-78935C1DA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37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372670-0437-F1D8-D5C8-BD44653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90037-0FBA-2027-9C31-0590F345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A37AB-AE87-2577-8267-DBF080543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56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090C-F408-71C5-840F-ACF3B2EA9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D97D5-476D-51D4-D35B-CFEEB750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0CC4B-F140-A093-CE2E-0474E629D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C93B7-C914-8A36-5C0C-8B603788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28A21-9647-1D81-D86B-401B641D8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CC10C-0D58-02C0-89B2-8D61BD37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285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8514-0B2E-8D15-820B-0DE23B7F8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580356-7B7D-B20C-023F-01F6B74F86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9F37C-9D79-C100-9809-A526301E1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8891D-7001-4320-45BE-269A2257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BE829-01A5-EBDE-0B0A-29A77C4D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3F48F-A175-B888-CA2D-8899124FF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123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4C17C-C502-A829-DC69-3A4AA959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7A39C-F61E-68EE-ED46-94C7A972A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60A51-B609-0B52-EEC8-0A24D0C75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38C1F-53BA-F8AA-F3A8-A113B583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7694D-88D1-B5A2-F070-2B04910C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688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482D-7D08-AD57-A427-99DB3CCC2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EF0EC-BFE5-0DA0-D4B3-69A8F19C5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8B64C-55C6-9E6F-7C9D-A3B6BFB9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6EF74-EADC-7426-B2B9-725F8F1F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B645F-F617-507B-5671-437E34D2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51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7442F6-A023-82A0-AF41-2C3B81C9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45E6C-D6D7-B424-09BA-D13013F81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BA3B-188F-9F4E-9FFE-EA4BDBCE7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C9DD3-159E-4021-89CC-565853AA7468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39F30-361A-6055-06E9-34068420E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EB741-F6C3-9755-CF7E-D0DB4A2DD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68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276B53-4F3D-CAE6-13C6-41023814F4A5}"/>
              </a:ext>
            </a:extLst>
          </p:cNvPr>
          <p:cNvSpPr/>
          <p:nvPr/>
        </p:nvSpPr>
        <p:spPr>
          <a:xfrm>
            <a:off x="2551118" y="1139197"/>
            <a:ext cx="3979545" cy="45085"/>
          </a:xfrm>
          <a:prstGeom prst="rect">
            <a:avLst/>
          </a:prstGeom>
          <a:solidFill>
            <a:srgbClr val="FF55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6EDA2C-4F6C-805A-B34B-A4C3A819E527}"/>
              </a:ext>
            </a:extLst>
          </p:cNvPr>
          <p:cNvSpPr/>
          <p:nvPr/>
        </p:nvSpPr>
        <p:spPr>
          <a:xfrm>
            <a:off x="8698128" y="2192408"/>
            <a:ext cx="2589432" cy="4529877"/>
          </a:xfrm>
          <a:prstGeom prst="rect">
            <a:avLst/>
          </a:prstGeom>
          <a:solidFill>
            <a:srgbClr val="073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CC91E934-BC57-5C51-B9CC-77FE6A478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361" y="231303"/>
            <a:ext cx="473551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700" b="1" dirty="0">
                <a:latin typeface="Montserrat"/>
              </a:rPr>
              <a:t>Praven Kumar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5B368260-8B3D-8F8A-B9E6-B2B65252E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937" y="607253"/>
            <a:ext cx="47466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Lato" panose="020F0502020204030203" pitchFamily="34" charset="0"/>
              </a:rPr>
              <a:t>Assistant Manager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54014B-A2C0-FB68-2ECC-E87D3D169C14}"/>
              </a:ext>
            </a:extLst>
          </p:cNvPr>
          <p:cNvSpPr/>
          <p:nvPr/>
        </p:nvSpPr>
        <p:spPr>
          <a:xfrm>
            <a:off x="8732279" y="135331"/>
            <a:ext cx="2522696" cy="2122522"/>
          </a:xfrm>
          <a:prstGeom prst="rect">
            <a:avLst/>
          </a:prstGeom>
          <a:solidFill>
            <a:schemeClr val="bg1"/>
          </a:solidFill>
          <a:ln w="76200">
            <a:solidFill>
              <a:srgbClr val="0732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rgbClr val="073262"/>
              </a:solidFill>
            </a:endParaRPr>
          </a:p>
        </p:txBody>
      </p:sp>
      <p:sp>
        <p:nvSpPr>
          <p:cNvPr id="11" name="Text Box 50">
            <a:extLst>
              <a:ext uri="{FF2B5EF4-FFF2-40B4-BE49-F238E27FC236}">
                <a16:creationId xmlns:a16="http://schemas.microsoft.com/office/drawing/2014/main" id="{B3A5F4EF-7F92-40C6-C911-EAE57F1E0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998" y="1368334"/>
            <a:ext cx="1970057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b="1" dirty="0">
                <a:solidFill>
                  <a:srgbClr val="222222"/>
                </a:solidFill>
                <a:latin typeface="Lato"/>
                <a:ea typeface="Times New Roman" panose="02020603050405020304" pitchFamily="18" charset="0"/>
                <a:cs typeface="Lato"/>
              </a:rPr>
              <a:t>praven.kumar@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genpact.com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/>
              <a:cs typeface="Lato"/>
            </a:endParaRP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5BD3B68A-7D17-0DB2-CA38-01B2C0EEB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0200" y="1382720"/>
            <a:ext cx="12287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+91 8148341952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26DA814D-F0E2-8DB9-25AC-A5A431A42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865" y="1382720"/>
            <a:ext cx="15271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Bengaluru, KA</a:t>
            </a:r>
            <a:r>
              <a:rPr lang="en-US" altLang="en-US" sz="800" b="1" dirty="0">
                <a:solidFill>
                  <a:srgbClr val="222222"/>
                </a:solidFill>
                <a:latin typeface="Lato"/>
                <a:ea typeface="Times New Roman" panose="02020603050405020304" pitchFamily="18" charset="0"/>
                <a:cs typeface="Lato"/>
              </a:rPr>
              <a:t>,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India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/>
              <a:cs typeface="Lato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2EC83E-DE16-9660-AD8C-A779A030DB15}"/>
              </a:ext>
            </a:extLst>
          </p:cNvPr>
          <p:cNvSpPr/>
          <p:nvPr/>
        </p:nvSpPr>
        <p:spPr>
          <a:xfrm>
            <a:off x="3038798" y="1006482"/>
            <a:ext cx="307340" cy="307340"/>
          </a:xfrm>
          <a:prstGeom prst="ellipse">
            <a:avLst/>
          </a:prstGeom>
          <a:solidFill>
            <a:srgbClr val="07326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C9E3D4-1E45-CE0A-6AF5-40242EDAE85C}"/>
              </a:ext>
            </a:extLst>
          </p:cNvPr>
          <p:cNvSpPr/>
          <p:nvPr/>
        </p:nvSpPr>
        <p:spPr>
          <a:xfrm>
            <a:off x="4384998" y="1002672"/>
            <a:ext cx="307340" cy="307340"/>
          </a:xfrm>
          <a:prstGeom prst="ellipse">
            <a:avLst/>
          </a:prstGeom>
          <a:solidFill>
            <a:srgbClr val="07326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68B260-872D-9B7E-D232-D33E50302DA4}"/>
              </a:ext>
            </a:extLst>
          </p:cNvPr>
          <p:cNvSpPr/>
          <p:nvPr/>
        </p:nvSpPr>
        <p:spPr>
          <a:xfrm>
            <a:off x="5712783" y="1006482"/>
            <a:ext cx="307340" cy="307340"/>
          </a:xfrm>
          <a:prstGeom prst="ellipse">
            <a:avLst/>
          </a:prstGeom>
          <a:solidFill>
            <a:srgbClr val="07326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15FA1D-2D8D-D4B0-926F-99063A87E59D}"/>
              </a:ext>
            </a:extLst>
          </p:cNvPr>
          <p:cNvSpPr/>
          <p:nvPr/>
        </p:nvSpPr>
        <p:spPr>
          <a:xfrm>
            <a:off x="3044377" y="1023495"/>
            <a:ext cx="276860" cy="27686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28868" t="31319" r="22440" b="30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2370D9-013C-EBAF-ED7D-8C4827E1E871}"/>
              </a:ext>
            </a:extLst>
          </p:cNvPr>
          <p:cNvSpPr/>
          <p:nvPr/>
        </p:nvSpPr>
        <p:spPr>
          <a:xfrm>
            <a:off x="4384998" y="1017912"/>
            <a:ext cx="292100" cy="29210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28458" t="25682" r="23657" b="2643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9CAF4AF-E225-E4E1-99AF-3AE680E30E1E}"/>
              </a:ext>
            </a:extLst>
          </p:cNvPr>
          <p:cNvSpPr/>
          <p:nvPr/>
        </p:nvSpPr>
        <p:spPr>
          <a:xfrm>
            <a:off x="5720402" y="1018365"/>
            <a:ext cx="292100" cy="29210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31446" t="22322" r="31622" b="2205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5DB99A95-CAEF-E558-FF03-ECAD961CE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545" y="2366548"/>
            <a:ext cx="2314575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</a:rPr>
              <a:t>SKILLS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E6645C-9EFF-D455-0EB1-C145D8BCDD58}"/>
              </a:ext>
            </a:extLst>
          </p:cNvPr>
          <p:cNvCxnSpPr/>
          <p:nvPr/>
        </p:nvCxnSpPr>
        <p:spPr>
          <a:xfrm flipH="1">
            <a:off x="8810777" y="2707072"/>
            <a:ext cx="2183765" cy="0"/>
          </a:xfrm>
          <a:prstGeom prst="line">
            <a:avLst/>
          </a:prstGeom>
          <a:noFill/>
          <a:ln w="19050" cap="flat" cmpd="sng" algn="ctr">
            <a:solidFill>
              <a:srgbClr val="FF555F"/>
            </a:solidFill>
            <a:prstDash val="solid"/>
            <a:miter lim="800000"/>
          </a:ln>
          <a:effectLst/>
        </p:spPr>
      </p:cxnSp>
      <p:sp>
        <p:nvSpPr>
          <p:cNvPr id="22" name="Text Box 14">
            <a:extLst>
              <a:ext uri="{FF2B5EF4-FFF2-40B4-BE49-F238E27FC236}">
                <a16:creationId xmlns:a16="http://schemas.microsoft.com/office/drawing/2014/main" id="{D8D47979-DD43-D96C-377C-9582B38F3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9683" y="2914197"/>
            <a:ext cx="2381251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1100" b="1" dirty="0">
                <a:solidFill>
                  <a:schemeClr val="bg1"/>
                </a:solidFill>
              </a:rPr>
              <a:t>AI &amp; Machine Learning</a:t>
            </a:r>
            <a:br>
              <a:rPr lang="en-IN" sz="1000" dirty="0">
                <a:solidFill>
                  <a:schemeClr val="bg1"/>
                </a:solidFill>
              </a:rPr>
            </a:br>
            <a:r>
              <a:rPr lang="en-IN" sz="1000" dirty="0">
                <a:solidFill>
                  <a:schemeClr val="bg1"/>
                </a:solidFill>
              </a:rPr>
              <a:t>Regression, Random Forest, SVM, Multi-label Classification, Predictive Modelling</a:t>
            </a:r>
          </a:p>
          <a:p>
            <a:endParaRPr lang="en-IN" sz="1000" dirty="0">
              <a:solidFill>
                <a:schemeClr val="bg1"/>
              </a:solidFill>
            </a:endParaRPr>
          </a:p>
          <a:p>
            <a:r>
              <a:rPr lang="en-IN" sz="1100" b="1" dirty="0">
                <a:solidFill>
                  <a:schemeClr val="bg1"/>
                </a:solidFill>
              </a:rPr>
              <a:t>Deep Learning &amp; Computer Vision</a:t>
            </a:r>
            <a:br>
              <a:rPr lang="en-IN" sz="1000" dirty="0">
                <a:solidFill>
                  <a:schemeClr val="bg1"/>
                </a:solidFill>
              </a:rPr>
            </a:br>
            <a:r>
              <a:rPr lang="en-IN" sz="1000" dirty="0">
                <a:solidFill>
                  <a:schemeClr val="bg1"/>
                </a:solidFill>
              </a:rPr>
              <a:t>CNN, Object Detection (YOLO), Image Classification, OpenCV</a:t>
            </a:r>
          </a:p>
          <a:p>
            <a:endParaRPr lang="en-IN" sz="1000" dirty="0">
              <a:solidFill>
                <a:schemeClr val="bg1"/>
              </a:solidFill>
            </a:endParaRPr>
          </a:p>
          <a:p>
            <a:r>
              <a:rPr lang="en-IN" sz="1100" b="1" dirty="0">
                <a:solidFill>
                  <a:schemeClr val="bg1"/>
                </a:solidFill>
              </a:rPr>
              <a:t>Natural Language Processing &amp; GenAI</a:t>
            </a:r>
            <a:br>
              <a:rPr lang="en-IN" sz="1000" dirty="0">
                <a:solidFill>
                  <a:schemeClr val="bg1"/>
                </a:solidFill>
              </a:rPr>
            </a:br>
            <a:r>
              <a:rPr lang="en-IN" sz="1000" dirty="0">
                <a:solidFill>
                  <a:schemeClr val="bg1"/>
                </a:solidFill>
              </a:rPr>
              <a:t>LSTM, RNN, Encoder-Decoder, Prompt Engineering, Domain-based LLM Systems</a:t>
            </a:r>
          </a:p>
          <a:p>
            <a:endParaRPr lang="en-IN" sz="1000" dirty="0">
              <a:solidFill>
                <a:schemeClr val="bg1"/>
              </a:solidFill>
            </a:endParaRPr>
          </a:p>
          <a:p>
            <a:r>
              <a:rPr lang="en-IN" sz="1100" b="1" dirty="0">
                <a:solidFill>
                  <a:schemeClr val="bg1"/>
                </a:solidFill>
              </a:rPr>
              <a:t>Cloud &amp; MLOps</a:t>
            </a:r>
            <a:br>
              <a:rPr lang="en-IN" sz="1000" dirty="0">
                <a:solidFill>
                  <a:schemeClr val="bg1"/>
                </a:solidFill>
              </a:rPr>
            </a:br>
            <a:r>
              <a:rPr lang="en-IN" sz="1000" dirty="0">
                <a:solidFill>
                  <a:schemeClr val="bg1"/>
                </a:solidFill>
              </a:rPr>
              <a:t>GCP, Vertex AI, Model Deployment, Pipeline Development</a:t>
            </a:r>
          </a:p>
          <a:p>
            <a:endParaRPr lang="en-IN" sz="1000" dirty="0">
              <a:solidFill>
                <a:schemeClr val="bg1"/>
              </a:solidFill>
            </a:endParaRPr>
          </a:p>
          <a:p>
            <a:r>
              <a:rPr lang="en-IN" sz="1100" b="1" dirty="0">
                <a:solidFill>
                  <a:schemeClr val="bg1"/>
                </a:solidFill>
              </a:rPr>
              <a:t>Programming</a:t>
            </a:r>
            <a:br>
              <a:rPr lang="en-IN" sz="1000" dirty="0">
                <a:solidFill>
                  <a:schemeClr val="bg1"/>
                </a:solidFill>
              </a:rPr>
            </a:br>
            <a:r>
              <a:rPr lang="en-IN" sz="1000" dirty="0">
                <a:solidFill>
                  <a:schemeClr val="bg1"/>
                </a:solidFill>
              </a:rPr>
              <a:t>Python, 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D2F670-D983-4777-B5BB-D28BD7DE2825}"/>
              </a:ext>
            </a:extLst>
          </p:cNvPr>
          <p:cNvSpPr/>
          <p:nvPr/>
        </p:nvSpPr>
        <p:spPr>
          <a:xfrm>
            <a:off x="8814616" y="2825097"/>
            <a:ext cx="2209800" cy="9588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9F5969-E32C-F57C-B35B-A7C57054613E}"/>
              </a:ext>
            </a:extLst>
          </p:cNvPr>
          <p:cNvSpPr/>
          <p:nvPr/>
        </p:nvSpPr>
        <p:spPr>
          <a:xfrm>
            <a:off x="8810777" y="2815767"/>
            <a:ext cx="2137005" cy="107216"/>
          </a:xfrm>
          <a:prstGeom prst="rect">
            <a:avLst/>
          </a:prstGeom>
          <a:solidFill>
            <a:srgbClr val="FF555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34" name="Text Box 52">
            <a:extLst>
              <a:ext uri="{FF2B5EF4-FFF2-40B4-BE49-F238E27FC236}">
                <a16:creationId xmlns:a16="http://schemas.microsoft.com/office/drawing/2014/main" id="{361BA426-3A0D-E184-94EE-2B1266E14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8097" y="5851996"/>
            <a:ext cx="2382838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</a:rPr>
              <a:t>INDUSTRIES/FUNCTIONS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Text Box 54">
            <a:extLst>
              <a:ext uri="{FF2B5EF4-FFF2-40B4-BE49-F238E27FC236}">
                <a16:creationId xmlns:a16="http://schemas.microsoft.com/office/drawing/2014/main" id="{AA22FF30-1E80-FCBE-4396-D4B2061E3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1330" y="6120334"/>
            <a:ext cx="2400300" cy="586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Retail Industry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Healthcare</a:t>
            </a:r>
            <a:endParaRPr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000" dirty="0">
                <a:solidFill>
                  <a:schemeClr val="bg1"/>
                </a:solidFill>
                <a:latin typeface="Lato"/>
                <a:cs typeface="Lato"/>
              </a:rPr>
              <a:t>Finance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F231C8D-807D-72B9-735F-7DA7944D641A}"/>
              </a:ext>
            </a:extLst>
          </p:cNvPr>
          <p:cNvCxnSpPr/>
          <p:nvPr/>
        </p:nvCxnSpPr>
        <p:spPr>
          <a:xfrm flipH="1">
            <a:off x="8813317" y="6101848"/>
            <a:ext cx="2183765" cy="0"/>
          </a:xfrm>
          <a:prstGeom prst="line">
            <a:avLst/>
          </a:prstGeom>
          <a:noFill/>
          <a:ln w="19050" cap="flat" cmpd="sng" algn="ctr">
            <a:solidFill>
              <a:srgbClr val="FF555F"/>
            </a:solidFill>
            <a:prstDash val="solid"/>
            <a:miter lim="800000"/>
          </a:ln>
          <a:effectLst/>
        </p:spPr>
      </p:cxnSp>
      <p:sp>
        <p:nvSpPr>
          <p:cNvPr id="38" name="Text Box 29">
            <a:extLst>
              <a:ext uri="{FF2B5EF4-FFF2-40B4-BE49-F238E27FC236}">
                <a16:creationId xmlns:a16="http://schemas.microsoft.com/office/drawing/2014/main" id="{33FB0A7E-6DEB-E663-F557-C1C741ADF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260" y="1812112"/>
            <a:ext cx="3741737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555F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</a:rPr>
              <a:t>ABOUT 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555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Text Box 71">
            <a:extLst>
              <a:ext uri="{FF2B5EF4-FFF2-40B4-BE49-F238E27FC236}">
                <a16:creationId xmlns:a16="http://schemas.microsoft.com/office/drawing/2014/main" id="{0165155C-8724-5AF6-46A7-B338BBB5D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344" y="2239202"/>
            <a:ext cx="3838575" cy="261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000" dirty="0"/>
              <a:t>Strategic Data Science &amp; AI professional with expertise in enterprise AI transformation, predictive analytics, and Generative AI enablement.</a:t>
            </a:r>
          </a:p>
          <a:p>
            <a:endParaRPr lang="en-US" sz="1000" dirty="0"/>
          </a:p>
          <a:p>
            <a:r>
              <a:rPr lang="en-US" sz="1000" dirty="0"/>
              <a:t>Experienced in translating complex business challenges into scalable AI solutions that strengthen strategic decision-making and elevate organizational performance. Recognized for bridging business vision with advanced analytics to accelerate enterprise transformation and deliver sustained competitive advantage.</a:t>
            </a:r>
          </a:p>
          <a:p>
            <a:endParaRPr lang="en-US" sz="1000" dirty="0"/>
          </a:p>
          <a:p>
            <a:r>
              <a:rPr lang="en-US" sz="1000" dirty="0"/>
              <a:t>Proficient in Machine Learning, Deep Learning, Computer Vision, NLP, and Agentic AI systems with cloud-native deployment experience.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120721-CD55-DF04-C494-BF4149EFF539}"/>
              </a:ext>
            </a:extLst>
          </p:cNvPr>
          <p:cNvCxnSpPr/>
          <p:nvPr/>
        </p:nvCxnSpPr>
        <p:spPr>
          <a:xfrm flipH="1">
            <a:off x="453291" y="2164854"/>
            <a:ext cx="3658235" cy="0"/>
          </a:xfrm>
          <a:prstGeom prst="line">
            <a:avLst/>
          </a:prstGeom>
          <a:ln w="19050">
            <a:solidFill>
              <a:srgbClr val="FF5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E7438C3-213C-4ACB-24DF-0FC7ADF9FC83}"/>
              </a:ext>
            </a:extLst>
          </p:cNvPr>
          <p:cNvCxnSpPr>
            <a:cxnSpLocks/>
          </p:cNvCxnSpPr>
          <p:nvPr/>
        </p:nvCxnSpPr>
        <p:spPr>
          <a:xfrm flipH="1">
            <a:off x="455831" y="2204224"/>
            <a:ext cx="3657600" cy="0"/>
          </a:xfrm>
          <a:prstGeom prst="line">
            <a:avLst/>
          </a:prstGeom>
          <a:ln w="19050">
            <a:solidFill>
              <a:srgbClr val="FF5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Box 30">
            <a:extLst>
              <a:ext uri="{FF2B5EF4-FFF2-40B4-BE49-F238E27FC236}">
                <a16:creationId xmlns:a16="http://schemas.microsoft.com/office/drawing/2014/main" id="{AB2B6BE5-8E84-D566-8B08-E5048E190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260" y="5078078"/>
            <a:ext cx="3741737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555F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</a:rPr>
              <a:t>EDUCATION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555F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A2D61B-31CD-3206-11AC-7482A7549115}"/>
              </a:ext>
            </a:extLst>
          </p:cNvPr>
          <p:cNvCxnSpPr/>
          <p:nvPr/>
        </p:nvCxnSpPr>
        <p:spPr>
          <a:xfrm flipH="1">
            <a:off x="453291" y="5483028"/>
            <a:ext cx="3660140" cy="0"/>
          </a:xfrm>
          <a:prstGeom prst="line">
            <a:avLst/>
          </a:prstGeom>
          <a:ln w="19050">
            <a:solidFill>
              <a:srgbClr val="FF5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D010B7-007D-B34A-B6E2-FA5DA1A35C07}"/>
              </a:ext>
            </a:extLst>
          </p:cNvPr>
          <p:cNvCxnSpPr/>
          <p:nvPr/>
        </p:nvCxnSpPr>
        <p:spPr>
          <a:xfrm flipH="1">
            <a:off x="456793" y="5526304"/>
            <a:ext cx="3657600" cy="0"/>
          </a:xfrm>
          <a:prstGeom prst="line">
            <a:avLst/>
          </a:prstGeom>
          <a:ln w="19050">
            <a:solidFill>
              <a:srgbClr val="FF5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34">
            <a:extLst>
              <a:ext uri="{FF2B5EF4-FFF2-40B4-BE49-F238E27FC236}">
                <a16:creationId xmlns:a16="http://schemas.microsoft.com/office/drawing/2014/main" id="{2288B6E6-F882-9BD1-B79F-B6353635D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14" y="5709506"/>
            <a:ext cx="2767012" cy="247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7326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BACHELOR OF ENGINEERING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7326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Text Box 33">
            <a:extLst>
              <a:ext uri="{FF2B5EF4-FFF2-40B4-BE49-F238E27FC236}">
                <a16:creationId xmlns:a16="http://schemas.microsoft.com/office/drawing/2014/main" id="{071AE54F-D998-8B14-8E13-400077714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494" y="5540919"/>
            <a:ext cx="9874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solidFill>
                  <a:schemeClr val="tx2">
                    <a:lumMod val="50000"/>
                  </a:schemeClr>
                </a:solidFill>
                <a:latin typeface="Lato"/>
                <a:ea typeface="Times New Roman" panose="02020603050405020304" pitchFamily="18" charset="0"/>
                <a:cs typeface="Lato"/>
              </a:rPr>
              <a:t>2012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 - </a:t>
            </a:r>
            <a:r>
              <a:rPr lang="en-US" altLang="en-US" sz="1000" dirty="0">
                <a:solidFill>
                  <a:schemeClr val="tx2">
                    <a:lumMod val="50000"/>
                  </a:schemeClr>
                </a:solidFill>
                <a:latin typeface="Lato"/>
                <a:ea typeface="Times New Roman" panose="02020603050405020304" pitchFamily="18" charset="0"/>
                <a:cs typeface="Lato"/>
              </a:rPr>
              <a:t>2016</a:t>
            </a:r>
            <a:endParaRPr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Times New Roman"/>
              <a:ea typeface="Lato"/>
              <a:cs typeface="Lato"/>
            </a:endParaRPr>
          </a:p>
        </p:txBody>
      </p:sp>
      <p:sp>
        <p:nvSpPr>
          <p:cNvPr id="48" name="Text Box 32">
            <a:extLst>
              <a:ext uri="{FF2B5EF4-FFF2-40B4-BE49-F238E27FC236}">
                <a16:creationId xmlns:a16="http://schemas.microsoft.com/office/drawing/2014/main" id="{23E5AE63-DE47-0488-D010-8777D937D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368" y="6007800"/>
            <a:ext cx="3762375" cy="26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727273"/>
                </a:solidFill>
                <a:latin typeface="Lato"/>
                <a:ea typeface="Lato"/>
                <a:cs typeface="Lato"/>
              </a:rPr>
              <a:t>Sri Ramakrishna Engineering College, Coimbatore</a:t>
            </a:r>
            <a:endParaRPr lang="en-US" altLang="en-US" sz="1000" b="0" i="0" u="none" strike="noStrike" cap="none" normalizeH="0" baseline="0" dirty="0">
              <a:ln>
                <a:noFill/>
              </a:ln>
              <a:solidFill>
                <a:srgbClr val="727273"/>
              </a:solidFill>
              <a:effectLst/>
              <a:latin typeface="Lato"/>
              <a:cs typeface="Lato"/>
            </a:endParaRPr>
          </a:p>
        </p:txBody>
      </p:sp>
      <p:sp>
        <p:nvSpPr>
          <p:cNvPr id="60" name="Text Box 2">
            <a:extLst>
              <a:ext uri="{FF2B5EF4-FFF2-40B4-BE49-F238E27FC236}">
                <a16:creationId xmlns:a16="http://schemas.microsoft.com/office/drawing/2014/main" id="{03F416FB-7489-AAFC-1391-0A973015C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444" y="4646116"/>
            <a:ext cx="987425" cy="247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000" b="1">
                <a:solidFill>
                  <a:srgbClr val="000000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 </a:t>
            </a:r>
            <a:endParaRPr lang="en-IN" sz="11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4" name="Text Box 40">
            <a:extLst>
              <a:ext uri="{FF2B5EF4-FFF2-40B4-BE49-F238E27FC236}">
                <a16:creationId xmlns:a16="http://schemas.microsoft.com/office/drawing/2014/main" id="{71A24EF5-A4C8-4796-1BD0-3C6C156B9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9989" y="1803379"/>
            <a:ext cx="3741738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555F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</a:rPr>
              <a:t>EXPERIENCE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555F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48C03C4-567F-F24C-BAC8-F63A9FE3BC0D}"/>
              </a:ext>
            </a:extLst>
          </p:cNvPr>
          <p:cNvCxnSpPr/>
          <p:nvPr/>
        </p:nvCxnSpPr>
        <p:spPr>
          <a:xfrm flipH="1">
            <a:off x="4431589" y="2164854"/>
            <a:ext cx="3658870" cy="0"/>
          </a:xfrm>
          <a:prstGeom prst="line">
            <a:avLst/>
          </a:prstGeom>
          <a:ln w="19050">
            <a:solidFill>
              <a:srgbClr val="FF5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8B49269-C718-BC2B-29FF-7006BE1BE9A1}"/>
              </a:ext>
            </a:extLst>
          </p:cNvPr>
          <p:cNvCxnSpPr/>
          <p:nvPr/>
        </p:nvCxnSpPr>
        <p:spPr>
          <a:xfrm flipH="1">
            <a:off x="4431589" y="2204224"/>
            <a:ext cx="3660140" cy="0"/>
          </a:xfrm>
          <a:prstGeom prst="line">
            <a:avLst/>
          </a:prstGeom>
          <a:ln w="19050">
            <a:solidFill>
              <a:srgbClr val="FF5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5">
            <a:extLst>
              <a:ext uri="{FF2B5EF4-FFF2-40B4-BE49-F238E27FC236}">
                <a16:creationId xmlns:a16="http://schemas.microsoft.com/office/drawing/2014/main" id="{9FF3D9FC-B78B-3F75-4776-6BB700BBF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65" y="17227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9" name="Rectangle 99">
            <a:extLst>
              <a:ext uri="{FF2B5EF4-FFF2-40B4-BE49-F238E27FC236}">
                <a16:creationId xmlns:a16="http://schemas.microsoft.com/office/drawing/2014/main" id="{1C8BBC95-A84A-1080-485D-1846BECCC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65" y="629478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397B6575-CB34-612D-D748-170CDF5D38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9" y="3937"/>
            <a:ext cx="1536099" cy="1399491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A40EAB63-DB98-24E4-8DC0-1DA450BE7063}"/>
              </a:ext>
            </a:extLst>
          </p:cNvPr>
          <p:cNvSpPr txBox="1"/>
          <p:nvPr/>
        </p:nvSpPr>
        <p:spPr>
          <a:xfrm>
            <a:off x="4260689" y="2298819"/>
            <a:ext cx="3995056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000" b="1" dirty="0"/>
              <a:t>Enterprise GenAI – RFP Domain Automation</a:t>
            </a:r>
          </a:p>
          <a:p>
            <a:r>
              <a:rPr lang="en-IN" sz="1000" dirty="0"/>
              <a:t>Designed domain-specific AI assistant to automate RFP responses.</a:t>
            </a:r>
          </a:p>
          <a:p>
            <a:r>
              <a:rPr lang="en-IN" sz="1000" dirty="0"/>
              <a:t>• Built SharePoint → GCP ingestion pipeline</a:t>
            </a:r>
            <a:br>
              <a:rPr lang="en-IN" sz="1000" dirty="0"/>
            </a:br>
            <a:r>
              <a:rPr lang="en-IN" sz="1000" dirty="0"/>
              <a:t>• Architected role-based LLM domain for 9 SME functions</a:t>
            </a:r>
            <a:br>
              <a:rPr lang="en-IN" sz="1000" dirty="0"/>
            </a:br>
            <a:r>
              <a:rPr lang="en-IN" sz="1000" dirty="0"/>
              <a:t>• Developed enterprise-grade prompt frameworks</a:t>
            </a:r>
            <a:br>
              <a:rPr lang="en-IN" sz="1000" dirty="0"/>
            </a:br>
            <a:r>
              <a:rPr lang="en-IN" sz="1000" dirty="0"/>
              <a:t>• Enabled conversational knowledge retrieval</a:t>
            </a:r>
          </a:p>
          <a:p>
            <a:r>
              <a:rPr lang="en-IN" sz="1000" b="1" dirty="0"/>
              <a:t>Impact:</a:t>
            </a:r>
            <a:r>
              <a:rPr lang="en-IN" sz="1000" dirty="0"/>
              <a:t> Reduced RFP turnaround time and improved response consistency.</a:t>
            </a:r>
          </a:p>
          <a:p>
            <a:br>
              <a:rPr lang="en-IN" sz="1000" dirty="0"/>
            </a:br>
            <a:endParaRPr lang="en-IN" sz="1000" dirty="0"/>
          </a:p>
          <a:p>
            <a:r>
              <a:rPr lang="en-IN" sz="1000" b="1" dirty="0"/>
              <a:t>Customer Loyalty Index – Revenue Protection</a:t>
            </a:r>
          </a:p>
          <a:p>
            <a:r>
              <a:rPr lang="en-IN" sz="1000" dirty="0"/>
              <a:t>Developed Random Forest model to predict churn probability.</a:t>
            </a:r>
          </a:p>
          <a:p>
            <a:r>
              <a:rPr lang="en-IN" sz="1000" dirty="0"/>
              <a:t>• Engineered behavioural &amp; revenue features</a:t>
            </a:r>
            <a:br>
              <a:rPr lang="en-IN" sz="1000" dirty="0"/>
            </a:br>
            <a:r>
              <a:rPr lang="en-IN" sz="1000" dirty="0"/>
              <a:t>• Delivered actionable risk segmentation</a:t>
            </a:r>
          </a:p>
          <a:p>
            <a:r>
              <a:rPr lang="en-IN" sz="1000" b="1" dirty="0"/>
              <a:t>Impact:</a:t>
            </a:r>
            <a:r>
              <a:rPr lang="en-IN" sz="1000" dirty="0"/>
              <a:t> Identified 12% high-risk customers; safeguarded </a:t>
            </a:r>
            <a:r>
              <a:rPr lang="en-IN" sz="1000" b="1" dirty="0"/>
              <a:t>$2.5B revenue</a:t>
            </a:r>
            <a:r>
              <a:rPr lang="en-IN" sz="1000" dirty="0"/>
              <a:t>.</a:t>
            </a:r>
          </a:p>
          <a:p>
            <a:br>
              <a:rPr lang="en-IN" sz="1000" dirty="0"/>
            </a:br>
            <a:endParaRPr lang="en-IN" sz="1000" dirty="0"/>
          </a:p>
          <a:p>
            <a:r>
              <a:rPr lang="en-IN" sz="1000" b="1" dirty="0"/>
              <a:t>Intelligent Territory Alignment – Sales Optimization</a:t>
            </a:r>
          </a:p>
          <a:p>
            <a:r>
              <a:rPr lang="en-IN" sz="1000" dirty="0"/>
              <a:t>Built Genetic Algorithm model for optimized sales rep alignment.</a:t>
            </a:r>
          </a:p>
          <a:p>
            <a:r>
              <a:rPr lang="en-IN" sz="1000" dirty="0"/>
              <a:t>• Reduced travel inefficiencies</a:t>
            </a:r>
            <a:br>
              <a:rPr lang="en-IN" sz="1000" dirty="0"/>
            </a:br>
            <a:r>
              <a:rPr lang="en-IN" sz="1000" dirty="0"/>
              <a:t>• Balanced revenue allocation</a:t>
            </a:r>
          </a:p>
          <a:p>
            <a:r>
              <a:rPr lang="en-IN" sz="1000" b="1" dirty="0"/>
              <a:t>Impact:</a:t>
            </a:r>
            <a:r>
              <a:rPr lang="en-IN" sz="1000" dirty="0"/>
              <a:t> 350K miles reduction | 10% improvement in revenue distribution.</a:t>
            </a:r>
          </a:p>
          <a:p>
            <a:endParaRPr lang="en-US" sz="1000" dirty="0">
              <a:latin typeface="Lato"/>
              <a:ea typeface="Calibri"/>
              <a:cs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788034-44E6-D956-4D8D-8F93A857BC2E}"/>
              </a:ext>
            </a:extLst>
          </p:cNvPr>
          <p:cNvSpPr/>
          <p:nvPr/>
        </p:nvSpPr>
        <p:spPr>
          <a:xfrm>
            <a:off x="8814616" y="4096582"/>
            <a:ext cx="2209800" cy="9588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9F0A52-A579-674B-76E6-5A0C119E523D}"/>
              </a:ext>
            </a:extLst>
          </p:cNvPr>
          <p:cNvSpPr/>
          <p:nvPr/>
        </p:nvSpPr>
        <p:spPr>
          <a:xfrm>
            <a:off x="8810778" y="4087251"/>
            <a:ext cx="1695492" cy="105216"/>
          </a:xfrm>
          <a:prstGeom prst="rect">
            <a:avLst/>
          </a:prstGeom>
          <a:solidFill>
            <a:srgbClr val="FF555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17A00B-14F1-1E33-AC0D-094DB0E2E311}"/>
              </a:ext>
            </a:extLst>
          </p:cNvPr>
          <p:cNvSpPr/>
          <p:nvPr/>
        </p:nvSpPr>
        <p:spPr>
          <a:xfrm>
            <a:off x="8814616" y="4723320"/>
            <a:ext cx="2209800" cy="9588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40E99C-E663-3762-1D59-7B36F0528F89}"/>
              </a:ext>
            </a:extLst>
          </p:cNvPr>
          <p:cNvSpPr/>
          <p:nvPr/>
        </p:nvSpPr>
        <p:spPr>
          <a:xfrm>
            <a:off x="8810778" y="4713989"/>
            <a:ext cx="1695492" cy="105216"/>
          </a:xfrm>
          <a:prstGeom prst="rect">
            <a:avLst/>
          </a:prstGeom>
          <a:solidFill>
            <a:srgbClr val="FF555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04D0090-64E0-D351-DE88-E144331CB90C}"/>
              </a:ext>
            </a:extLst>
          </p:cNvPr>
          <p:cNvSpPr/>
          <p:nvPr/>
        </p:nvSpPr>
        <p:spPr>
          <a:xfrm>
            <a:off x="8814615" y="3465069"/>
            <a:ext cx="2209800" cy="9588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F18844A-7BAE-EDCD-0D42-89ED85C4B12C}"/>
              </a:ext>
            </a:extLst>
          </p:cNvPr>
          <p:cNvSpPr/>
          <p:nvPr/>
        </p:nvSpPr>
        <p:spPr>
          <a:xfrm>
            <a:off x="8810777" y="3465068"/>
            <a:ext cx="1844782" cy="113178"/>
          </a:xfrm>
          <a:prstGeom prst="rect">
            <a:avLst/>
          </a:prstGeom>
          <a:solidFill>
            <a:srgbClr val="FF555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206C42-963E-F60B-5254-6C70985F51A0}"/>
              </a:ext>
            </a:extLst>
          </p:cNvPr>
          <p:cNvSpPr/>
          <p:nvPr/>
        </p:nvSpPr>
        <p:spPr>
          <a:xfrm>
            <a:off x="8810320" y="5347604"/>
            <a:ext cx="2209800" cy="9588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0706DEC-56F9-3EB8-DFA8-0550D0DD05C9}"/>
              </a:ext>
            </a:extLst>
          </p:cNvPr>
          <p:cNvSpPr/>
          <p:nvPr/>
        </p:nvSpPr>
        <p:spPr>
          <a:xfrm>
            <a:off x="8806481" y="5338274"/>
            <a:ext cx="2137005" cy="107216"/>
          </a:xfrm>
          <a:prstGeom prst="rect">
            <a:avLst/>
          </a:prstGeom>
          <a:solidFill>
            <a:srgbClr val="FF555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7D8FAF70-6AB6-66FB-2857-F1BD4C77D6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894" y="176366"/>
            <a:ext cx="2440844" cy="206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98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330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Lato</vt:lpstr>
      <vt:lpstr>Montserrat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Pandey, Ashutosh</dc:creator>
  <cp:lastModifiedBy>Praven Kumar S</cp:lastModifiedBy>
  <cp:revision>482</cp:revision>
  <dcterms:created xsi:type="dcterms:W3CDTF">2022-07-13T09:20:30Z</dcterms:created>
  <dcterms:modified xsi:type="dcterms:W3CDTF">2026-02-25T17:18:52Z</dcterms:modified>
</cp:coreProperties>
</file>