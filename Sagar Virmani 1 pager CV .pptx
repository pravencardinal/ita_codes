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73262"/>
    <a:srgbClr val="FF55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6ED95C-6D01-3A02-3046-4599D87ABD20}" v="22" dt="2023-01-05T15:34:47.896"/>
    <p1510:client id="{4391B17E-DEC4-4F2A-BBBD-BA3C18A35A15}" v="2" dt="2023-01-06T11:22:56.152"/>
    <p1510:client id="{B54C06F4-7C9C-ABE5-F090-4927A302D0B1}" v="2748" dt="2023-01-05T15:30:07.9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7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u, Mayank" userId="3d6a3e74-a12e-4c0e-8802-d9bbc30ef176" providerId="ADAL" clId="{4391B17E-DEC4-4F2A-BBBD-BA3C18A35A15}"/>
    <pc:docChg chg="undo custSel modSld">
      <pc:chgData name="Manu, Mayank" userId="3d6a3e74-a12e-4c0e-8802-d9bbc30ef176" providerId="ADAL" clId="{4391B17E-DEC4-4F2A-BBBD-BA3C18A35A15}" dt="2023-01-06T11:29:30.991" v="257" actId="20577"/>
      <pc:docMkLst>
        <pc:docMk/>
      </pc:docMkLst>
      <pc:sldChg chg="delSp modSp mod">
        <pc:chgData name="Manu, Mayank" userId="3d6a3e74-a12e-4c0e-8802-d9bbc30ef176" providerId="ADAL" clId="{4391B17E-DEC4-4F2A-BBBD-BA3C18A35A15}" dt="2023-01-06T11:29:30.991" v="257" actId="20577"/>
        <pc:sldMkLst>
          <pc:docMk/>
          <pc:sldMk cId="3928198229" sldId="256"/>
        </pc:sldMkLst>
        <pc:spChg chg="del">
          <ac:chgData name="Manu, Mayank" userId="3d6a3e74-a12e-4c0e-8802-d9bbc30ef176" providerId="ADAL" clId="{4391B17E-DEC4-4F2A-BBBD-BA3C18A35A15}" dt="2023-01-06T11:22:56.152" v="3" actId="478"/>
          <ac:spMkLst>
            <pc:docMk/>
            <pc:sldMk cId="3928198229" sldId="256"/>
            <ac:spMk id="10" creationId="{C1C15090-6668-7672-4B7A-7273EB858D51}"/>
          </ac:spMkLst>
        </pc:spChg>
        <pc:spChg chg="mod">
          <ac:chgData name="Manu, Mayank" userId="3d6a3e74-a12e-4c0e-8802-d9bbc30ef176" providerId="ADAL" clId="{4391B17E-DEC4-4F2A-BBBD-BA3C18A35A15}" dt="2023-01-06T11:22:34.930" v="0" actId="6549"/>
          <ac:spMkLst>
            <pc:docMk/>
            <pc:sldMk cId="3928198229" sldId="256"/>
            <ac:spMk id="39" creationId="{0165155C-8724-5AF6-46A7-B338BBB5D9D2}"/>
          </ac:spMkLst>
        </pc:spChg>
        <pc:spChg chg="mod">
          <ac:chgData name="Manu, Mayank" userId="3d6a3e74-a12e-4c0e-8802-d9bbc30ef176" providerId="ADAL" clId="{4391B17E-DEC4-4F2A-BBBD-BA3C18A35A15}" dt="2023-01-06T11:29:30.991" v="257" actId="20577"/>
          <ac:spMkLst>
            <pc:docMk/>
            <pc:sldMk cId="3928198229" sldId="256"/>
            <ac:spMk id="52" creationId="{A40EAB63-DB98-24E4-8DC0-1DA450BE7063}"/>
          </ac:spMkLst>
        </pc:spChg>
        <pc:spChg chg="del">
          <ac:chgData name="Manu, Mayank" userId="3d6a3e74-a12e-4c0e-8802-d9bbc30ef176" providerId="ADAL" clId="{4391B17E-DEC4-4F2A-BBBD-BA3C18A35A15}" dt="2023-01-06T11:22:56.152" v="3" actId="478"/>
          <ac:spMkLst>
            <pc:docMk/>
            <pc:sldMk cId="3928198229" sldId="256"/>
            <ac:spMk id="67" creationId="{8801A9C5-7B43-AA9A-4479-7DC9A2D1EC5C}"/>
          </ac:spMkLst>
        </pc:spChg>
        <pc:spChg chg="del">
          <ac:chgData name="Manu, Mayank" userId="3d6a3e74-a12e-4c0e-8802-d9bbc30ef176" providerId="ADAL" clId="{4391B17E-DEC4-4F2A-BBBD-BA3C18A35A15}" dt="2023-01-06T11:22:56.152" v="3" actId="478"/>
          <ac:spMkLst>
            <pc:docMk/>
            <pc:sldMk cId="3928198229" sldId="256"/>
            <ac:spMk id="69" creationId="{5719706E-EEFA-9AB9-0C39-CEAF400A1524}"/>
          </ac:spMkLst>
        </pc:spChg>
        <pc:spChg chg="del">
          <ac:chgData name="Manu, Mayank" userId="3d6a3e74-a12e-4c0e-8802-d9bbc30ef176" providerId="ADAL" clId="{4391B17E-DEC4-4F2A-BBBD-BA3C18A35A15}" dt="2023-01-06T11:22:42.013" v="1" actId="478"/>
          <ac:spMkLst>
            <pc:docMk/>
            <pc:sldMk cId="3928198229" sldId="256"/>
            <ac:spMk id="73" creationId="{44073B58-9014-9E5A-6FE5-036BC273D18B}"/>
          </ac:spMkLst>
        </pc:spChg>
        <pc:spChg chg="del">
          <ac:chgData name="Manu, Mayank" userId="3d6a3e74-a12e-4c0e-8802-d9bbc30ef176" providerId="ADAL" clId="{4391B17E-DEC4-4F2A-BBBD-BA3C18A35A15}" dt="2023-01-06T11:22:42.013" v="1" actId="478"/>
          <ac:spMkLst>
            <pc:docMk/>
            <pc:sldMk cId="3928198229" sldId="256"/>
            <ac:spMk id="76" creationId="{B4BB258D-F5F7-AFEC-1068-DF9D10CE3B88}"/>
          </ac:spMkLst>
        </pc:spChg>
        <pc:cxnChg chg="del">
          <ac:chgData name="Manu, Mayank" userId="3d6a3e74-a12e-4c0e-8802-d9bbc30ef176" providerId="ADAL" clId="{4391B17E-DEC4-4F2A-BBBD-BA3C18A35A15}" dt="2023-01-06T11:22:42.013" v="1" actId="478"/>
          <ac:cxnSpMkLst>
            <pc:docMk/>
            <pc:sldMk cId="3928198229" sldId="256"/>
            <ac:cxnSpMk id="74" creationId="{660E52D2-5835-0C1A-98D7-8B993293D5AD}"/>
          </ac:cxnSpMkLst>
        </pc:cxnChg>
        <pc:cxnChg chg="del">
          <ac:chgData name="Manu, Mayank" userId="3d6a3e74-a12e-4c0e-8802-d9bbc30ef176" providerId="ADAL" clId="{4391B17E-DEC4-4F2A-BBBD-BA3C18A35A15}" dt="2023-01-06T11:22:42.013" v="1" actId="478"/>
          <ac:cxnSpMkLst>
            <pc:docMk/>
            <pc:sldMk cId="3928198229" sldId="256"/>
            <ac:cxnSpMk id="75" creationId="{34A02851-46C5-9500-E624-F084442109FD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F69B9-78CE-5384-2C16-5C2E5DA6DA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8DDD54-5B82-18AB-7332-0706EDFC9C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260540-3A20-ECF5-8582-47E57A59D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C9DD3-159E-4021-89CC-565853AA7468}" type="datetimeFigureOut">
              <a:rPr lang="en-IN" smtClean="0"/>
              <a:t>05-01-2023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CEB168-E730-CDC7-19B6-7E093D9F3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98E7B-B56F-F994-6B70-182D661FC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E2684-7232-47D7-982F-30FE22619C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5040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F483D-905A-B8EC-A196-787DE898C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C82D8-CC1F-ED3C-032F-1CA6E6636D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66092D-330C-878A-3225-C5867C866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C9DD3-159E-4021-89CC-565853AA7468}" type="datetimeFigureOut">
              <a:rPr lang="en-IN" smtClean="0"/>
              <a:t>05-01-2023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062AFD-318F-AF57-1195-7A61F5CBF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FA099-733B-5735-13C7-0C41E43F7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E2684-7232-47D7-982F-30FE22619C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1325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BE47A-4C10-3472-DCE2-D3953C632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ED4021-10E3-B09D-A944-D2D3995366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723438-26CF-242E-76B2-B05BAC818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C9DD3-159E-4021-89CC-565853AA7468}" type="datetimeFigureOut">
              <a:rPr lang="en-IN" smtClean="0"/>
              <a:t>05-01-2023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C8405-9462-1ACB-3FAE-F7F4CAD2D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C64DC-2B79-ED1B-C5E8-B41A5A3DD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E2684-7232-47D7-982F-30FE22619C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1832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56201-7062-490C-2451-558B46DC3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462C2-575A-16C7-082F-ED1CA77D04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EE80BC-B357-CAEA-6653-D8F8710B6A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75691C-28EC-9A8B-568D-7CB7AAD14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C9DD3-159E-4021-89CC-565853AA7468}" type="datetimeFigureOut">
              <a:rPr lang="en-IN" smtClean="0"/>
              <a:t>05-01-2023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1A4766-966E-A753-0010-3A393627F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79C7BF-33C5-4D73-CE0E-06687C786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E2684-7232-47D7-982F-30FE22619C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1308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FB808-0EBF-D87F-1107-23AF5248A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A4998B-0537-3659-C0D3-16C0DAF87B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774C27-6230-FFD5-3460-9E11CB2C56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7345BE-FCFC-062F-9D0E-0CE43EA632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D16DE4-256B-BFDD-92A7-CD7768578C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33A491-3150-AD3A-EC77-FA5724FEB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C9DD3-159E-4021-89CC-565853AA7468}" type="datetimeFigureOut">
              <a:rPr lang="en-IN" smtClean="0"/>
              <a:t>05-01-2023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49DFBA-2AF8-1FAF-BDD2-EF075D31E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DB162C-3735-1B31-BD43-C9CC9ECF7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E2684-7232-47D7-982F-30FE22619C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9039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89CC8-9069-1476-B560-759C1D538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31D439-6082-35CA-67BA-63C5396B4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C9DD3-159E-4021-89CC-565853AA7468}" type="datetimeFigureOut">
              <a:rPr lang="en-IN" smtClean="0"/>
              <a:t>05-01-2023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E80E4C-F9B1-2A87-B0E8-DA81132C5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BA14F3-B80A-712A-FEC4-78935C1DA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E2684-7232-47D7-982F-30FE22619C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3370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372670-0437-F1D8-D5C8-BD446531E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C9DD3-159E-4021-89CC-565853AA7468}" type="datetimeFigureOut">
              <a:rPr lang="en-IN" smtClean="0"/>
              <a:t>05-01-2023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290037-0FBA-2027-9C31-0590F3453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0A37AB-AE87-2577-8267-DBF080543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E2684-7232-47D7-982F-30FE22619C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9567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C090C-F408-71C5-840F-ACF3B2EA9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D97D5-476D-51D4-D35B-CFEEB7507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90CC4B-F140-A093-CE2E-0474E629D2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9C93B7-C914-8A36-5C0C-8B6037886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C9DD3-159E-4021-89CC-565853AA7468}" type="datetimeFigureOut">
              <a:rPr lang="en-IN" smtClean="0"/>
              <a:t>05-01-2023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228A21-9647-1D81-D86B-401B641D8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4CC10C-0D58-02C0-89B2-8D61BD376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E2684-7232-47D7-982F-30FE22619C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3285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48514-0B2E-8D15-820B-0DE23B7F8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580356-7B7D-B20C-023F-01F6B74F86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B9F37C-9D79-C100-9809-A526301E18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58891D-7001-4320-45BE-269A2257F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C9DD3-159E-4021-89CC-565853AA7468}" type="datetimeFigureOut">
              <a:rPr lang="en-IN" smtClean="0"/>
              <a:t>05-01-2023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FBE829-01A5-EBDE-0B0A-29A77C4D8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93F48F-A175-B888-CA2D-8899124FF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E2684-7232-47D7-982F-30FE22619C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2123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4C17C-C502-A829-DC69-3A4AA959B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97A39C-F61E-68EE-ED46-94C7A972A0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60A51-B609-0B52-EEC8-0A24D0C75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C9DD3-159E-4021-89CC-565853AA7468}" type="datetimeFigureOut">
              <a:rPr lang="en-IN" smtClean="0"/>
              <a:t>05-01-2023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38C1F-53BA-F8AA-F3A8-A113B5833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7694D-88D1-B5A2-F070-2B04910CF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E2684-7232-47D7-982F-30FE22619C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0688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FE482D-7D08-AD57-A427-99DB3CCC2D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FEF0EC-BFE5-0DA0-D4B3-69A8F19C50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78B64C-55C6-9E6F-7C9D-A3B6BFB93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C9DD3-159E-4021-89CC-565853AA7468}" type="datetimeFigureOut">
              <a:rPr lang="en-IN" smtClean="0"/>
              <a:t>05-01-2023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6EF74-EADC-7426-B2B9-725F8F1F4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B645F-F617-507B-5671-437E34D2F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E2684-7232-47D7-982F-30FE22619C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5513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7442F6-A023-82A0-AF41-2C3B81C9C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445E6C-D6D7-B424-09BA-D13013F81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5BA3B-188F-9F4E-9FFE-EA4BDBCE70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DC9DD3-159E-4021-89CC-565853AA7468}" type="datetimeFigureOut">
              <a:rPr lang="en-IN" smtClean="0"/>
              <a:t>05-01-2023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139F30-361A-6055-06E9-34068420EC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EB741-F6C3-9755-CF7E-D0DB4A2DDC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E2684-7232-47D7-982F-30FE22619C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0687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9276B53-4F3D-CAE6-13C6-41023814F4A5}"/>
              </a:ext>
            </a:extLst>
          </p:cNvPr>
          <p:cNvSpPr/>
          <p:nvPr/>
        </p:nvSpPr>
        <p:spPr>
          <a:xfrm>
            <a:off x="2551118" y="1139197"/>
            <a:ext cx="3979545" cy="45085"/>
          </a:xfrm>
          <a:prstGeom prst="rect">
            <a:avLst/>
          </a:prstGeom>
          <a:solidFill>
            <a:srgbClr val="FF55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6EDA2C-4F6C-805A-B34B-A4C3A819E527}"/>
              </a:ext>
            </a:extLst>
          </p:cNvPr>
          <p:cNvSpPr/>
          <p:nvPr/>
        </p:nvSpPr>
        <p:spPr>
          <a:xfrm>
            <a:off x="8707459" y="2192409"/>
            <a:ext cx="2589432" cy="4104146"/>
          </a:xfrm>
          <a:prstGeom prst="rect">
            <a:avLst/>
          </a:prstGeom>
          <a:solidFill>
            <a:srgbClr val="0732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 dirty="0"/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CC91E934-BC57-5C51-B9CC-77FE6A4789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3361" y="231303"/>
            <a:ext cx="4735512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700" b="1" dirty="0">
                <a:latin typeface="Montserrat"/>
              </a:rPr>
              <a:t>Sagar Virmani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 Box 10">
            <a:extLst>
              <a:ext uri="{FF2B5EF4-FFF2-40B4-BE49-F238E27FC236}">
                <a16:creationId xmlns:a16="http://schemas.microsoft.com/office/drawing/2014/main" id="{5B368260-8B3D-8F8A-B9E6-B2B65252E3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1937" y="607253"/>
            <a:ext cx="4746625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00000"/>
                </a:solidFill>
                <a:latin typeface="Lato" panose="020F0502020204030203" pitchFamily="34" charset="0"/>
              </a:rPr>
              <a:t>Assistant Manager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54014B-A2C0-FB68-2ECC-E87D3D169C14}"/>
              </a:ext>
            </a:extLst>
          </p:cNvPr>
          <p:cNvSpPr/>
          <p:nvPr/>
        </p:nvSpPr>
        <p:spPr>
          <a:xfrm>
            <a:off x="8732279" y="135331"/>
            <a:ext cx="2522696" cy="2024955"/>
          </a:xfrm>
          <a:prstGeom prst="rect">
            <a:avLst/>
          </a:prstGeom>
          <a:solidFill>
            <a:schemeClr val="bg1"/>
          </a:solidFill>
          <a:ln w="76200">
            <a:solidFill>
              <a:srgbClr val="0732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>
              <a:solidFill>
                <a:srgbClr val="073262"/>
              </a:solidFill>
            </a:endParaRPr>
          </a:p>
        </p:txBody>
      </p:sp>
      <p:sp>
        <p:nvSpPr>
          <p:cNvPr id="11" name="Text Box 50">
            <a:extLst>
              <a:ext uri="{FF2B5EF4-FFF2-40B4-BE49-F238E27FC236}">
                <a16:creationId xmlns:a16="http://schemas.microsoft.com/office/drawing/2014/main" id="{B3A5F4EF-7F92-40C6-C911-EAE57F1E06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2998" y="1368334"/>
            <a:ext cx="1970057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800" b="1" dirty="0">
                <a:solidFill>
                  <a:srgbClr val="222222"/>
                </a:solidFill>
                <a:latin typeface="Lato"/>
                <a:ea typeface="Times New Roman" panose="02020603050405020304" pitchFamily="18" charset="0"/>
                <a:cs typeface="Lato"/>
              </a:rPr>
              <a:t>sagar.virmani@</a:t>
            </a: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Lato"/>
                <a:ea typeface="Times New Roman" panose="02020603050405020304" pitchFamily="18" charset="0"/>
                <a:cs typeface="Lato"/>
              </a:rPr>
              <a:t>genpact.com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ato"/>
              <a:cs typeface="Lato"/>
            </a:endParaRPr>
          </a:p>
        </p:txBody>
      </p:sp>
      <p:sp>
        <p:nvSpPr>
          <p:cNvPr id="12" name="Text Box 3">
            <a:extLst>
              <a:ext uri="{FF2B5EF4-FFF2-40B4-BE49-F238E27FC236}">
                <a16:creationId xmlns:a16="http://schemas.microsoft.com/office/drawing/2014/main" id="{5BD3B68A-7D17-0DB2-CA38-01B2C0EEBD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0200" y="1382720"/>
            <a:ext cx="1228725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Lato"/>
                <a:ea typeface="Times New Roman" panose="02020603050405020304" pitchFamily="18" charset="0"/>
                <a:cs typeface="Lato"/>
              </a:rPr>
              <a:t>+91 </a:t>
            </a:r>
            <a:r>
              <a:rPr lang="en-US" altLang="en-US" sz="800" b="1" dirty="0">
                <a:solidFill>
                  <a:srgbClr val="222222"/>
                </a:solidFill>
                <a:latin typeface="Lato"/>
                <a:ea typeface="Times New Roman" panose="02020603050405020304" pitchFamily="18" charset="0"/>
                <a:cs typeface="Lato"/>
              </a:rPr>
              <a:t>9810261701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 Box 4">
            <a:extLst>
              <a:ext uri="{FF2B5EF4-FFF2-40B4-BE49-F238E27FC236}">
                <a16:creationId xmlns:a16="http://schemas.microsoft.com/office/drawing/2014/main" id="{26DA814D-F0E2-8DB9-25AC-A5A431A422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2865" y="1382720"/>
            <a:ext cx="1527175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 b="1" dirty="0">
                <a:solidFill>
                  <a:srgbClr val="222222"/>
                </a:solidFill>
                <a:latin typeface="Lato"/>
                <a:ea typeface="Times New Roman" panose="02020603050405020304" pitchFamily="18" charset="0"/>
                <a:cs typeface="Lato"/>
              </a:rPr>
              <a:t>Gurgaon</a:t>
            </a: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Lato"/>
                <a:ea typeface="Times New Roman" panose="02020603050405020304" pitchFamily="18" charset="0"/>
                <a:cs typeface="Lato"/>
              </a:rPr>
              <a:t>, </a:t>
            </a:r>
            <a:r>
              <a:rPr lang="en-US" altLang="en-US" sz="800" b="1" dirty="0">
                <a:solidFill>
                  <a:srgbClr val="222222"/>
                </a:solidFill>
                <a:latin typeface="Lato"/>
                <a:ea typeface="Times New Roman" panose="02020603050405020304" pitchFamily="18" charset="0"/>
                <a:cs typeface="Lato"/>
              </a:rPr>
              <a:t>HR, </a:t>
            </a: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Lato"/>
                <a:ea typeface="Times New Roman" panose="02020603050405020304" pitchFamily="18" charset="0"/>
                <a:cs typeface="Lato"/>
              </a:rPr>
              <a:t>India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ato"/>
              <a:cs typeface="Lato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42EC83E-DE16-9660-AD8C-A779A030DB15}"/>
              </a:ext>
            </a:extLst>
          </p:cNvPr>
          <p:cNvSpPr/>
          <p:nvPr/>
        </p:nvSpPr>
        <p:spPr>
          <a:xfrm>
            <a:off x="3038798" y="1006482"/>
            <a:ext cx="307340" cy="307340"/>
          </a:xfrm>
          <a:prstGeom prst="ellipse">
            <a:avLst/>
          </a:prstGeom>
          <a:solidFill>
            <a:srgbClr val="073262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4C9E3D4-1E45-CE0A-6AF5-40242EDAE85C}"/>
              </a:ext>
            </a:extLst>
          </p:cNvPr>
          <p:cNvSpPr/>
          <p:nvPr/>
        </p:nvSpPr>
        <p:spPr>
          <a:xfrm>
            <a:off x="4384998" y="1002672"/>
            <a:ext cx="307340" cy="307340"/>
          </a:xfrm>
          <a:prstGeom prst="ellipse">
            <a:avLst/>
          </a:prstGeom>
          <a:solidFill>
            <a:srgbClr val="073262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268B260-872D-9B7E-D232-D33E50302DA4}"/>
              </a:ext>
            </a:extLst>
          </p:cNvPr>
          <p:cNvSpPr/>
          <p:nvPr/>
        </p:nvSpPr>
        <p:spPr>
          <a:xfrm>
            <a:off x="5712783" y="1006482"/>
            <a:ext cx="307340" cy="307340"/>
          </a:xfrm>
          <a:prstGeom prst="ellipse">
            <a:avLst/>
          </a:prstGeom>
          <a:solidFill>
            <a:srgbClr val="073262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115FA1D-2D8D-D4B0-926F-99063A87E59D}"/>
              </a:ext>
            </a:extLst>
          </p:cNvPr>
          <p:cNvSpPr/>
          <p:nvPr/>
        </p:nvSpPr>
        <p:spPr>
          <a:xfrm>
            <a:off x="3044377" y="1023495"/>
            <a:ext cx="276860" cy="276860"/>
          </a:xfrm>
          <a:prstGeom prst="ellipse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28868" t="31319" r="22440" b="30324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82370D9-013C-EBAF-ED7D-8C4827E1E871}"/>
              </a:ext>
            </a:extLst>
          </p:cNvPr>
          <p:cNvSpPr/>
          <p:nvPr/>
        </p:nvSpPr>
        <p:spPr>
          <a:xfrm>
            <a:off x="4384998" y="1017912"/>
            <a:ext cx="292100" cy="292100"/>
          </a:xfrm>
          <a:prstGeom prst="ellipse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28458" t="25682" r="23657" b="26434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9CAF4AF-E225-E4E1-99AF-3AE680E30E1E}"/>
              </a:ext>
            </a:extLst>
          </p:cNvPr>
          <p:cNvSpPr/>
          <p:nvPr/>
        </p:nvSpPr>
        <p:spPr>
          <a:xfrm>
            <a:off x="5720402" y="1018365"/>
            <a:ext cx="292100" cy="292100"/>
          </a:xfrm>
          <a:prstGeom prst="ellipse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31446" t="22322" r="31622" b="22057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 dirty="0"/>
          </a:p>
        </p:txBody>
      </p:sp>
      <p:sp>
        <p:nvSpPr>
          <p:cNvPr id="20" name="Text Box 12">
            <a:extLst>
              <a:ext uri="{FF2B5EF4-FFF2-40B4-BE49-F238E27FC236}">
                <a16:creationId xmlns:a16="http://schemas.microsoft.com/office/drawing/2014/main" id="{5DB99A95-CAEF-E558-FF03-ECAD961CEC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05545" y="2357217"/>
            <a:ext cx="2314575" cy="28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ontserrat" panose="00000500000000000000" pitchFamily="2" charset="0"/>
                <a:ea typeface="Times New Roman" panose="02020603050405020304" pitchFamily="18" charset="0"/>
              </a:rPr>
              <a:t>SKILLS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FE6645C-9EFF-D455-0EB1-C145D8BCDD58}"/>
              </a:ext>
            </a:extLst>
          </p:cNvPr>
          <p:cNvCxnSpPr/>
          <p:nvPr/>
        </p:nvCxnSpPr>
        <p:spPr>
          <a:xfrm flipH="1">
            <a:off x="8793293" y="2669753"/>
            <a:ext cx="2183765" cy="0"/>
          </a:xfrm>
          <a:prstGeom prst="line">
            <a:avLst/>
          </a:prstGeom>
          <a:noFill/>
          <a:ln w="19050" cap="flat" cmpd="sng" algn="ctr">
            <a:solidFill>
              <a:srgbClr val="FF555F"/>
            </a:solidFill>
            <a:prstDash val="solid"/>
            <a:miter lim="800000"/>
          </a:ln>
          <a:effectLst/>
        </p:spPr>
      </p:cxnSp>
      <p:sp>
        <p:nvSpPr>
          <p:cNvPr id="22" name="Text Box 14">
            <a:extLst>
              <a:ext uri="{FF2B5EF4-FFF2-40B4-BE49-F238E27FC236}">
                <a16:creationId xmlns:a16="http://schemas.microsoft.com/office/drawing/2014/main" id="{D8D47979-DD43-D96C-377C-9582B38F3F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29683" y="3016838"/>
            <a:ext cx="2381251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b="1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MACHINE LEARNING (scikit-learn, NumPy, Pandas, Matplotlib, Seaborn, and  </a:t>
            </a:r>
            <a:r>
              <a:rPr lang="en-US" altLang="en-US" sz="1000" b="1" dirty="0" err="1">
                <a:solidFill>
                  <a:srgbClr val="FFFFFF"/>
                </a:solidFill>
                <a:latin typeface="Lato"/>
                <a:ea typeface="Lato"/>
                <a:cs typeface="Lato"/>
              </a:rPr>
              <a:t>PyCaret</a:t>
            </a:r>
            <a:r>
              <a:rPr lang="en-US" altLang="en-US" sz="1000" b="1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-for time-series forecasting) 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03622FF-7FD3-B457-A34B-F0392BC5B19D}"/>
              </a:ext>
            </a:extLst>
          </p:cNvPr>
          <p:cNvSpPr/>
          <p:nvPr/>
        </p:nvSpPr>
        <p:spPr>
          <a:xfrm>
            <a:off x="8813317" y="2904765"/>
            <a:ext cx="2209800" cy="9588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24" name="Text Box 16">
            <a:extLst>
              <a:ext uri="{FF2B5EF4-FFF2-40B4-BE49-F238E27FC236}">
                <a16:creationId xmlns:a16="http://schemas.microsoft.com/office/drawing/2014/main" id="{1113CA0F-B681-39C4-BD12-979EEF3551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07459" y="3995676"/>
            <a:ext cx="228917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/>
                <a:ea typeface="Times New Roman" panose="02020603050405020304" pitchFamily="18" charset="0"/>
                <a:cs typeface="Lato"/>
              </a:rPr>
              <a:t>DATA ANALYSIS &amp; EDA</a:t>
            </a:r>
            <a:r>
              <a:rPr lang="en-US" altLang="en-US" sz="1000" b="1" dirty="0">
                <a:solidFill>
                  <a:schemeClr val="bg1"/>
                </a:solidFill>
                <a:latin typeface="Lato"/>
                <a:ea typeface="Times New Roman" panose="02020603050405020304" pitchFamily="18" charset="0"/>
                <a:cs typeface="Lato"/>
              </a:rPr>
              <a:t> (Python and Statistics)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99BB09D-791D-8F95-6C19-6AF13AE631A9}"/>
              </a:ext>
            </a:extLst>
          </p:cNvPr>
          <p:cNvSpPr/>
          <p:nvPr/>
        </p:nvSpPr>
        <p:spPr>
          <a:xfrm>
            <a:off x="8813317" y="2904766"/>
            <a:ext cx="2133217" cy="90968"/>
          </a:xfrm>
          <a:prstGeom prst="rect">
            <a:avLst/>
          </a:prstGeom>
          <a:solidFill>
            <a:srgbClr val="FF555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2D2F670-D983-4777-B5BB-D28BD7DE2825}"/>
              </a:ext>
            </a:extLst>
          </p:cNvPr>
          <p:cNvSpPr/>
          <p:nvPr/>
        </p:nvSpPr>
        <p:spPr>
          <a:xfrm>
            <a:off x="8810777" y="3849891"/>
            <a:ext cx="2209800" cy="9588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19F5969-E32C-F57C-B35B-A7C57054613E}"/>
              </a:ext>
            </a:extLst>
          </p:cNvPr>
          <p:cNvSpPr/>
          <p:nvPr/>
        </p:nvSpPr>
        <p:spPr>
          <a:xfrm>
            <a:off x="8806332" y="3849892"/>
            <a:ext cx="2137005" cy="95885"/>
          </a:xfrm>
          <a:prstGeom prst="rect">
            <a:avLst/>
          </a:prstGeom>
          <a:solidFill>
            <a:srgbClr val="FF555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28" name="Text Box 20">
            <a:extLst>
              <a:ext uri="{FF2B5EF4-FFF2-40B4-BE49-F238E27FC236}">
                <a16:creationId xmlns:a16="http://schemas.microsoft.com/office/drawing/2014/main" id="{2B34081C-01F0-BD23-D0D0-42127D74F1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7993" y="4594931"/>
            <a:ext cx="2300287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</a:rPr>
              <a:t>SQL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6D26D2E-31AD-C149-E72D-466AF6C73F51}"/>
              </a:ext>
            </a:extLst>
          </p:cNvPr>
          <p:cNvSpPr/>
          <p:nvPr/>
        </p:nvSpPr>
        <p:spPr>
          <a:xfrm>
            <a:off x="8813317" y="4444846"/>
            <a:ext cx="2209800" cy="9588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D7E187E-25F3-CBAE-F224-94979FB003D6}"/>
              </a:ext>
            </a:extLst>
          </p:cNvPr>
          <p:cNvSpPr/>
          <p:nvPr/>
        </p:nvSpPr>
        <p:spPr>
          <a:xfrm>
            <a:off x="8802151" y="4444846"/>
            <a:ext cx="1171370" cy="98054"/>
          </a:xfrm>
          <a:prstGeom prst="rect">
            <a:avLst/>
          </a:prstGeom>
          <a:solidFill>
            <a:srgbClr val="FF555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34" name="Text Box 52">
            <a:extLst>
              <a:ext uri="{FF2B5EF4-FFF2-40B4-BE49-F238E27FC236}">
                <a16:creationId xmlns:a16="http://schemas.microsoft.com/office/drawing/2014/main" id="{361BA426-3A0D-E184-94EE-2B1266E146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28097" y="4965563"/>
            <a:ext cx="2382838" cy="28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" panose="00000500000000000000" pitchFamily="2" charset="0"/>
                <a:ea typeface="Times New Roman" panose="02020603050405020304" pitchFamily="18" charset="0"/>
              </a:rPr>
              <a:t>INDUSTRIES/FUNCTIONS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" name="Text Box 54">
            <a:extLst>
              <a:ext uri="{FF2B5EF4-FFF2-40B4-BE49-F238E27FC236}">
                <a16:creationId xmlns:a16="http://schemas.microsoft.com/office/drawing/2014/main" id="{AA22FF30-1E80-FCBE-4396-D4B2061E39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11330" y="5336553"/>
            <a:ext cx="2400300" cy="1148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000" dirty="0">
                <a:solidFill>
                  <a:schemeClr val="bg1"/>
                </a:solidFill>
                <a:latin typeface="Lato"/>
                <a:ea typeface="Lato"/>
                <a:cs typeface="Lato"/>
              </a:rPr>
              <a:t>Pricing analytics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/>
                <a:ea typeface="Times New Roman" panose="02020603050405020304" pitchFamily="18" charset="0"/>
                <a:cs typeface="Lato"/>
              </a:rPr>
              <a:t>Healthcare</a:t>
            </a:r>
            <a:endParaRPr lang="en-US" altLang="en-US" sz="1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000" dirty="0">
                <a:solidFill>
                  <a:schemeClr val="bg1"/>
                </a:solidFill>
                <a:latin typeface="Lato"/>
                <a:cs typeface="Lato"/>
              </a:rPr>
              <a:t>Finance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000" dirty="0">
                <a:solidFill>
                  <a:schemeClr val="bg1"/>
                </a:solidFill>
                <a:latin typeface="Lato"/>
                <a:ea typeface="Lato"/>
                <a:cs typeface="Lato"/>
              </a:rPr>
              <a:t>Web development and design</a:t>
            </a:r>
            <a:endParaRPr lang="en-US" altLang="en-US" sz="1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Lato"/>
              <a:cs typeface="Lato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F231C8D-807D-72B9-735F-7DA7944D641A}"/>
              </a:ext>
            </a:extLst>
          </p:cNvPr>
          <p:cNvCxnSpPr/>
          <p:nvPr/>
        </p:nvCxnSpPr>
        <p:spPr>
          <a:xfrm flipH="1">
            <a:off x="8813317" y="5271403"/>
            <a:ext cx="2183765" cy="0"/>
          </a:xfrm>
          <a:prstGeom prst="line">
            <a:avLst/>
          </a:prstGeom>
          <a:noFill/>
          <a:ln w="19050" cap="flat" cmpd="sng" algn="ctr">
            <a:solidFill>
              <a:srgbClr val="FF555F"/>
            </a:solidFill>
            <a:prstDash val="solid"/>
            <a:miter lim="800000"/>
          </a:ln>
          <a:effectLst/>
        </p:spPr>
      </p:cxnSp>
      <p:sp>
        <p:nvSpPr>
          <p:cNvPr id="38" name="Text Box 29">
            <a:extLst>
              <a:ext uri="{FF2B5EF4-FFF2-40B4-BE49-F238E27FC236}">
                <a16:creationId xmlns:a16="http://schemas.microsoft.com/office/drawing/2014/main" id="{33FB0A7E-6DEB-E663-F557-C1C741ADF8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260" y="1812112"/>
            <a:ext cx="3741737" cy="30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555F"/>
                </a:solidFill>
                <a:effectLst/>
                <a:latin typeface="Montserrat" panose="00000500000000000000" pitchFamily="2" charset="0"/>
                <a:ea typeface="Times New Roman" panose="02020603050405020304" pitchFamily="18" charset="0"/>
              </a:rPr>
              <a:t>ABOUT ME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FF555F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9" name="Text Box 71">
            <a:extLst>
              <a:ext uri="{FF2B5EF4-FFF2-40B4-BE49-F238E27FC236}">
                <a16:creationId xmlns:a16="http://schemas.microsoft.com/office/drawing/2014/main" id="{0165155C-8724-5AF6-46A7-B338BBB5D9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344" y="2239203"/>
            <a:ext cx="3838575" cy="1293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ea typeface="+mn-lt"/>
                <a:cs typeface="+mn-lt"/>
              </a:rPr>
              <a:t>As a highly skilled and results-driven data scientist with a strong background in analytics, I am confidently making significant contributions to the organization and to the respective client.</a:t>
            </a:r>
            <a:endParaRPr lang="en-US" dirty="0">
              <a:ea typeface="+mn-lt"/>
              <a:cs typeface="+mn-lt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en-US" sz="1100" dirty="0">
              <a:ea typeface="+mn-lt"/>
              <a:cs typeface="+mn-lt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ea typeface="+mn-lt"/>
                <a:cs typeface="+mn-lt"/>
              </a:rPr>
              <a:t>My expertise lies in statistical analysis, Python programming,  time-series forecasting, machine learning, NLP and deep learning, and I have a proven track record of using data-driven approaches to solve complex problems and drive business growth.</a:t>
            </a:r>
            <a:endParaRPr lang="en-US" dirty="0">
              <a:ea typeface="+mn-lt"/>
              <a:cs typeface="+mn-lt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en-US" sz="1100" dirty="0">
              <a:ea typeface="+mn-lt"/>
              <a:cs typeface="+mn-lt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E120721-CD55-DF04-C494-BF4149EFF539}"/>
              </a:ext>
            </a:extLst>
          </p:cNvPr>
          <p:cNvCxnSpPr/>
          <p:nvPr/>
        </p:nvCxnSpPr>
        <p:spPr>
          <a:xfrm flipH="1">
            <a:off x="453291" y="2164854"/>
            <a:ext cx="3658235" cy="0"/>
          </a:xfrm>
          <a:prstGeom prst="line">
            <a:avLst/>
          </a:prstGeom>
          <a:ln w="19050">
            <a:solidFill>
              <a:srgbClr val="FF555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E7438C3-213C-4ACB-24DF-0FC7ADF9FC83}"/>
              </a:ext>
            </a:extLst>
          </p:cNvPr>
          <p:cNvCxnSpPr>
            <a:cxnSpLocks/>
          </p:cNvCxnSpPr>
          <p:nvPr/>
        </p:nvCxnSpPr>
        <p:spPr>
          <a:xfrm flipH="1">
            <a:off x="455831" y="2204224"/>
            <a:ext cx="3657600" cy="0"/>
          </a:xfrm>
          <a:prstGeom prst="line">
            <a:avLst/>
          </a:prstGeom>
          <a:ln w="19050">
            <a:solidFill>
              <a:srgbClr val="FF555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 Box 30">
            <a:extLst>
              <a:ext uri="{FF2B5EF4-FFF2-40B4-BE49-F238E27FC236}">
                <a16:creationId xmlns:a16="http://schemas.microsoft.com/office/drawing/2014/main" id="{AB2B6BE5-8E84-D566-8B08-E5048E1903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972" y="4504264"/>
            <a:ext cx="3741737" cy="30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rgbClr val="FF555F"/>
                </a:solidFill>
                <a:effectLst/>
                <a:latin typeface="Montserrat" panose="00000500000000000000" pitchFamily="2" charset="0"/>
                <a:ea typeface="Times New Roman" panose="02020603050405020304" pitchFamily="18" charset="0"/>
              </a:rPr>
              <a:t>EDUCATION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FF555F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A2D61B-31CD-3206-11AC-7482A7549115}"/>
              </a:ext>
            </a:extLst>
          </p:cNvPr>
          <p:cNvCxnSpPr/>
          <p:nvPr/>
        </p:nvCxnSpPr>
        <p:spPr>
          <a:xfrm flipH="1">
            <a:off x="462839" y="4960512"/>
            <a:ext cx="3660140" cy="0"/>
          </a:xfrm>
          <a:prstGeom prst="line">
            <a:avLst/>
          </a:prstGeom>
          <a:ln w="19050">
            <a:solidFill>
              <a:srgbClr val="FF555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CD010B7-007D-B34A-B6E2-FA5DA1A35C07}"/>
              </a:ext>
            </a:extLst>
          </p:cNvPr>
          <p:cNvCxnSpPr/>
          <p:nvPr/>
        </p:nvCxnSpPr>
        <p:spPr>
          <a:xfrm flipH="1">
            <a:off x="462839" y="4930610"/>
            <a:ext cx="3657600" cy="0"/>
          </a:xfrm>
          <a:prstGeom prst="line">
            <a:avLst/>
          </a:prstGeom>
          <a:ln w="19050">
            <a:solidFill>
              <a:srgbClr val="FF555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Box 34">
            <a:extLst>
              <a:ext uri="{FF2B5EF4-FFF2-40B4-BE49-F238E27FC236}">
                <a16:creationId xmlns:a16="http://schemas.microsoft.com/office/drawing/2014/main" id="{2288B6E6-F882-9BD1-B79F-B6353635D5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117" y="5111940"/>
            <a:ext cx="2767012" cy="2476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073262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</a:rPr>
              <a:t>BACHELOR OF TECHNOLOGY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7326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7" name="Text Box 33">
            <a:extLst>
              <a:ext uri="{FF2B5EF4-FFF2-40B4-BE49-F238E27FC236}">
                <a16:creationId xmlns:a16="http://schemas.microsoft.com/office/drawing/2014/main" id="{071AE54F-D998-8B14-8E13-4000777144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1758" y="5084679"/>
            <a:ext cx="987425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000" dirty="0">
                <a:solidFill>
                  <a:schemeClr val="tx2">
                    <a:lumMod val="50000"/>
                  </a:schemeClr>
                </a:solidFill>
                <a:latin typeface="Lato"/>
                <a:ea typeface="Times New Roman" panose="02020603050405020304" pitchFamily="18" charset="0"/>
                <a:cs typeface="Lato"/>
              </a:rPr>
              <a:t>2010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Lato"/>
                <a:ea typeface="Times New Roman" panose="02020603050405020304" pitchFamily="18" charset="0"/>
                <a:cs typeface="Lato"/>
              </a:rPr>
              <a:t> - </a:t>
            </a:r>
            <a:r>
              <a:rPr lang="en-US" altLang="en-US" sz="1000" dirty="0">
                <a:solidFill>
                  <a:schemeClr val="tx2">
                    <a:lumMod val="50000"/>
                  </a:schemeClr>
                </a:solidFill>
                <a:latin typeface="Lato"/>
                <a:ea typeface="Times New Roman" panose="02020603050405020304" pitchFamily="18" charset="0"/>
                <a:cs typeface="Lato"/>
              </a:rPr>
              <a:t>2014</a:t>
            </a:r>
            <a:endParaRPr lang="en-US" altLang="en-US" sz="1800" b="0" i="0" u="none" strike="noStrike" cap="none" normalizeH="0" baseline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latin typeface="Times New Roman"/>
              <a:ea typeface="Lato"/>
              <a:cs typeface="Lato"/>
            </a:endParaRPr>
          </a:p>
        </p:txBody>
      </p:sp>
      <p:sp>
        <p:nvSpPr>
          <p:cNvPr id="48" name="Text Box 32">
            <a:extLst>
              <a:ext uri="{FF2B5EF4-FFF2-40B4-BE49-F238E27FC236}">
                <a16:creationId xmlns:a16="http://schemas.microsoft.com/office/drawing/2014/main" id="{23E5AE63-DE47-0488-D010-8777D937D1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384" y="5365266"/>
            <a:ext cx="3762375" cy="265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solidFill>
                  <a:srgbClr val="727273"/>
                </a:solidFill>
                <a:latin typeface="Lato"/>
                <a:ea typeface="Lato"/>
                <a:cs typeface="Lato"/>
              </a:rPr>
              <a:t>Maharshi Dayanand University, Rohtak</a:t>
            </a:r>
            <a:endParaRPr lang="en-US" altLang="en-US" sz="1000" b="0" i="0" u="none" strike="noStrike" cap="none" normalizeH="0" baseline="0" dirty="0">
              <a:ln>
                <a:noFill/>
              </a:ln>
              <a:solidFill>
                <a:srgbClr val="727273"/>
              </a:solidFill>
              <a:effectLst/>
              <a:latin typeface="Lato"/>
              <a:cs typeface="Lato"/>
            </a:endParaRPr>
          </a:p>
        </p:txBody>
      </p:sp>
      <p:sp>
        <p:nvSpPr>
          <p:cNvPr id="60" name="Text Box 2">
            <a:extLst>
              <a:ext uri="{FF2B5EF4-FFF2-40B4-BE49-F238E27FC236}">
                <a16:creationId xmlns:a16="http://schemas.microsoft.com/office/drawing/2014/main" id="{03F416FB-7489-AAFC-1391-0A973015C3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5444" y="4646116"/>
            <a:ext cx="987425" cy="2470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r">
              <a:lnSpc>
                <a:spcPct val="140000"/>
              </a:lnSpc>
            </a:pPr>
            <a:r>
              <a:rPr lang="en-US" sz="1000" b="1">
                <a:solidFill>
                  <a:srgbClr val="000000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</a:rPr>
              <a:t> </a:t>
            </a:r>
            <a:endParaRPr lang="en-IN" sz="11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4" name="Text Box 40">
            <a:extLst>
              <a:ext uri="{FF2B5EF4-FFF2-40B4-BE49-F238E27FC236}">
                <a16:creationId xmlns:a16="http://schemas.microsoft.com/office/drawing/2014/main" id="{71A24EF5-A4C8-4796-1BD0-3C6C156B9F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9989" y="1803379"/>
            <a:ext cx="3741738" cy="30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555F"/>
                </a:solidFill>
                <a:effectLst/>
                <a:latin typeface="Montserrat" panose="00000500000000000000" pitchFamily="2" charset="0"/>
                <a:ea typeface="Times New Roman" panose="02020603050405020304" pitchFamily="18" charset="0"/>
              </a:rPr>
              <a:t>EXPERIENCE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FF555F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448C03C4-567F-F24C-BAC8-F63A9FE3BC0D}"/>
              </a:ext>
            </a:extLst>
          </p:cNvPr>
          <p:cNvCxnSpPr/>
          <p:nvPr/>
        </p:nvCxnSpPr>
        <p:spPr>
          <a:xfrm flipH="1">
            <a:off x="4431589" y="2164854"/>
            <a:ext cx="3658870" cy="0"/>
          </a:xfrm>
          <a:prstGeom prst="line">
            <a:avLst/>
          </a:prstGeom>
          <a:ln w="19050">
            <a:solidFill>
              <a:srgbClr val="FF555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C8B49269-C718-BC2B-29FF-7006BE1BE9A1}"/>
              </a:ext>
            </a:extLst>
          </p:cNvPr>
          <p:cNvCxnSpPr/>
          <p:nvPr/>
        </p:nvCxnSpPr>
        <p:spPr>
          <a:xfrm flipH="1">
            <a:off x="4431589" y="2204224"/>
            <a:ext cx="3660140" cy="0"/>
          </a:xfrm>
          <a:prstGeom prst="line">
            <a:avLst/>
          </a:prstGeom>
          <a:ln w="19050">
            <a:solidFill>
              <a:srgbClr val="FF555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75">
            <a:extLst>
              <a:ext uri="{FF2B5EF4-FFF2-40B4-BE49-F238E27FC236}">
                <a16:creationId xmlns:a16="http://schemas.microsoft.com/office/drawing/2014/main" id="{9FF3D9FC-B78B-3F75-4776-6BB700BBFA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565" y="17227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79" name="Rectangle 99">
            <a:extLst>
              <a:ext uri="{FF2B5EF4-FFF2-40B4-BE49-F238E27FC236}">
                <a16:creationId xmlns:a16="http://schemas.microsoft.com/office/drawing/2014/main" id="{1C8BBC95-A84A-1080-485D-1846BECCC6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565" y="629478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397B6575-CB34-612D-D748-170CDF5D38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59" y="3937"/>
            <a:ext cx="1536099" cy="1399491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A40EAB63-DB98-24E4-8DC0-1DA450BE7063}"/>
              </a:ext>
            </a:extLst>
          </p:cNvPr>
          <p:cNvSpPr txBox="1"/>
          <p:nvPr/>
        </p:nvSpPr>
        <p:spPr>
          <a:xfrm>
            <a:off x="4260689" y="2298819"/>
            <a:ext cx="3995056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b="1" dirty="0">
                <a:latin typeface="Lato"/>
                <a:ea typeface="Calibri"/>
                <a:cs typeface="Calibri"/>
              </a:rPr>
              <a:t>National Buy-Margin project:</a:t>
            </a:r>
            <a:endParaRPr lang="en-US" dirty="0">
              <a:ea typeface="Calibri"/>
              <a:cs typeface="Calibri"/>
            </a:endParaRPr>
          </a:p>
          <a:p>
            <a:endParaRPr lang="en-US" sz="1000" b="1" dirty="0">
              <a:latin typeface="Lato"/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latin typeface="Lato"/>
                <a:ea typeface="Calibri"/>
                <a:cs typeface="Calibri"/>
              </a:rPr>
              <a:t>Developed sales forecasting models for suppliers using machine learning techniques like ARIMA, LGBM. …… .  Time series forecasting was done with less 1-4 % error difference using each model with varying seasonality, trends and white noise.</a:t>
            </a:r>
            <a:r>
              <a:rPr lang="en-US" sz="1000" dirty="0">
                <a:latin typeface="Lato"/>
                <a:ea typeface="+mn-lt"/>
                <a:cs typeface="+mn-lt"/>
              </a:rPr>
              <a:t> Feature engineering and statistical analysis was performed, wherever required. </a:t>
            </a:r>
            <a:r>
              <a:rPr lang="en-US" sz="1000" dirty="0">
                <a:latin typeface="Lato"/>
                <a:ea typeface="Calibri"/>
                <a:cs typeface="Calibri"/>
              </a:rPr>
              <a:t>Achieved a accuracy of … </a:t>
            </a:r>
            <a:endParaRPr lang="en-US" sz="1000" dirty="0">
              <a:latin typeface="Lato"/>
              <a:ea typeface="+mn-lt"/>
              <a:cs typeface="+mn-lt"/>
            </a:endParaRPr>
          </a:p>
          <a:p>
            <a:br>
              <a:rPr lang="en-US" sz="1000" dirty="0">
                <a:latin typeface="Lato"/>
                <a:ea typeface="+mn-lt"/>
                <a:cs typeface="+mn-lt"/>
              </a:rPr>
            </a:br>
            <a:r>
              <a:rPr lang="en-US" sz="1000" b="1" dirty="0">
                <a:latin typeface="Lato"/>
                <a:ea typeface="+mn-lt"/>
                <a:cs typeface="+mn-lt"/>
              </a:rPr>
              <a:t>Competitive intelligence - COGS discount project:</a:t>
            </a:r>
            <a:endParaRPr lang="en-US" sz="1000" b="1" dirty="0">
              <a:latin typeface="Calibri"/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latin typeface="Lato"/>
                <a:ea typeface="Calibri"/>
                <a:cs typeface="Calibri"/>
              </a:rPr>
              <a:t>A COGS discount value of 4.2% was calculated for all Cardinal prescription drugs including branded and over the counter drugs when compared with competitor.</a:t>
            </a:r>
          </a:p>
          <a:p>
            <a:pPr marL="171450" indent="-171450">
              <a:buFont typeface="Arial"/>
              <a:buChar char="•"/>
            </a:pPr>
            <a:endParaRPr lang="en-US" sz="1000" dirty="0">
              <a:latin typeface="Lato"/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latin typeface="Lato"/>
                <a:ea typeface="Calibri"/>
                <a:cs typeface="Calibri"/>
              </a:rPr>
              <a:t>This provided the stakeholders with the correct numbers for changing future sales and marketing strategies corresponding to similar drugs.</a:t>
            </a:r>
          </a:p>
          <a:p>
            <a:endParaRPr lang="en-US" sz="1000" dirty="0">
              <a:latin typeface="Lato"/>
              <a:ea typeface="Calibri"/>
              <a:cs typeface="Calibri"/>
            </a:endParaRPr>
          </a:p>
        </p:txBody>
      </p:sp>
      <p:pic>
        <p:nvPicPr>
          <p:cNvPr id="56" name="Picture 56" descr="A picture containing person, person, shirt, male&#10;&#10;Description automatically generated">
            <a:extLst>
              <a:ext uri="{FF2B5EF4-FFF2-40B4-BE49-F238E27FC236}">
                <a16:creationId xmlns:a16="http://schemas.microsoft.com/office/drawing/2014/main" id="{CC70CD40-DEE4-001E-FA65-C98F8706F3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2322" y="135712"/>
            <a:ext cx="2485903" cy="2024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1982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1342</TotalTime>
  <Words>260</Words>
  <Application>Microsoft Office PowerPoint</Application>
  <PresentationFormat>Widescreen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Lato</vt:lpstr>
      <vt:lpstr>Montserrat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Pandey, Ashutosh</dc:creator>
  <cp:lastModifiedBy>Manu, Mayank</cp:lastModifiedBy>
  <cp:revision>468</cp:revision>
  <dcterms:created xsi:type="dcterms:W3CDTF">2022-07-13T09:20:30Z</dcterms:created>
  <dcterms:modified xsi:type="dcterms:W3CDTF">2023-01-06T11:29:35Z</dcterms:modified>
</cp:coreProperties>
</file>